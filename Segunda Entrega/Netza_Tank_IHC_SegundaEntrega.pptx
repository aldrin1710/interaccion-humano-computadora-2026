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15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/mnt/user-data/uploads/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11824">
              <a:alpha val="75000"/>
            </a:srgbClr>
          </a:solidFill>
          <a:ln w="12700">
            <a:solidFill>
              <a:srgbClr val="0118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2"/>
          <p:cNvSpPr/>
          <p:nvPr/>
        </p:nvSpPr>
        <p:spPr>
          <a:xfrm>
            <a:off x="4937760" y="0"/>
            <a:ext cx="822960" cy="5143500"/>
          </a:xfrm>
          <a:prstGeom prst="rect">
            <a:avLst/>
          </a:prstGeom>
          <a:solidFill>
            <a:srgbClr val="011824">
              <a:alpha val="95000"/>
            </a:srgbClr>
          </a:solidFill>
          <a:ln w="12700">
            <a:solidFill>
              <a:srgbClr val="0118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320040" y="5943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NETZA-TANK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320040" y="134416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Entrega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20040" y="1874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Humano-Computadora  · 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286000"/>
            <a:ext cx="420624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2468880"/>
            <a:ext cx="4297680" cy="402336"/>
          </a:xfrm>
          <a:prstGeom prst="rect">
            <a:avLst/>
          </a:prstGeom>
          <a:solidFill>
            <a:srgbClr val="041E2C"/>
          </a:solidFill>
          <a:ln w="889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320040" y="2468880"/>
            <a:ext cx="54864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475488" y="24688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Lo-Fi y Hi-Fi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2980944"/>
            <a:ext cx="4297680" cy="402336"/>
          </a:xfrm>
          <a:prstGeom prst="rect">
            <a:avLst/>
          </a:prstGeom>
          <a:solidFill>
            <a:srgbClr val="041E2C"/>
          </a:solidFill>
          <a:ln w="889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320040" y="2980944"/>
            <a:ext cx="54864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475488" y="2980944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KLM – Keystroke Level Model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3493008"/>
            <a:ext cx="4297680" cy="402336"/>
          </a:xfrm>
          <a:prstGeom prst="rect">
            <a:avLst/>
          </a:prstGeom>
          <a:solidFill>
            <a:srgbClr val="041E2C"/>
          </a:solidFill>
          <a:ln w="889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320040" y="3493008"/>
            <a:ext cx="54864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475488" y="349300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12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Pruebas de Usabilidad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0040" y="4526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 web para configurar y gestionar ecosistemas acuaticos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 – Netza-Tank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 web paso a paso para </a:t>
            </a:r>
            <a:r>
              <a:rPr lang="en-US" sz="1100" i="1" dirty="0" err="1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validar y gestionar ecosistemas acuaticos.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configura su acuario en 4 pasos guiados: define el volumen del tanque, selecciona especies compatibles con validacion en tiempo real, elige filtro y sustrato, y </a:t>
            </a:r>
            <a:r>
              <a:rPr lang="en-US" sz="1250" dirty="0" err="1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</a:t>
            </a:r>
            <a:r>
              <a:rPr lang="en-US" sz="12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plantas optativas. Al finalizar obtiene un resumen completo con parametros ideales y un calendario de mantenimiento.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" y="1874520"/>
            <a:ext cx="1993392" cy="292608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84048" y="1874520"/>
            <a:ext cx="199339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84048" y="199339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" y="25420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guiada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962656"/>
            <a:ext cx="1444752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93776" y="3035808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4 pasos con progreso visible y navegacion hacia atras en cualquier momento.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23744" y="1874520"/>
            <a:ext cx="1993392" cy="292608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523744" y="1874520"/>
            <a:ext cx="199339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2523744" y="199339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615184" y="25420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live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98064" y="2962656"/>
            <a:ext cx="1444752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2633472" y="3035808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con alertas de incompatibilidad de comportamiento y parametros quimicos.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1993392" cy="292608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663440" y="1874520"/>
            <a:ext cx="199339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4663440" y="199339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54880" y="25420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 y fauna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962656"/>
            <a:ext cx="1444752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4773168" y="3035808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con nivel de dificultad, fichas informativas e instrucciones de cuidado.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03136" y="1874520"/>
            <a:ext cx="1993392" cy="292608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803136" y="1874520"/>
            <a:ext cx="199339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803136" y="199339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94576" y="25420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77456" y="2962656"/>
            <a:ext cx="1444752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912864" y="3035808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programado: cambios de agua, limpieza de filtro y revision de parametros.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" y="4846320"/>
            <a:ext cx="8375904" cy="256032"/>
          </a:xfrm>
          <a:prstGeom prst="rect">
            <a:avLst/>
          </a:prstGeom>
          <a:solidFill>
            <a:srgbClr val="041E2C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54864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 figma.com/design/dVUUigDuGB4q2KYSlXy9ln/Netza-Tank-Prototype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Lo-Fi  —  Bocetos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de registro, configuracion inicial, volumen de tanque y seleccion de especies.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3192" y="960120"/>
            <a:ext cx="1965960" cy="3200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/mnt/user-data/uploads/0_registro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1837944" cy="2816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192" y="3840480"/>
            <a:ext cx="19659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393192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Login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05456" y="960120"/>
            <a:ext cx="1965960" cy="3200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0" name="Image 1" descr="/mnt/user-data/uploads/1_configuracion_inicial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9464" y="1024128"/>
            <a:ext cx="1837944" cy="28163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5456" y="3840480"/>
            <a:ext cx="19659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2505456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Inicial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17720" y="960120"/>
            <a:ext cx="1965960" cy="3200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/mnt/user-data/uploads/3_volumen_tanque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81728" y="1024128"/>
            <a:ext cx="1837944" cy="281635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17720" y="3840480"/>
            <a:ext cx="19659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1"/>
          <p:cNvSpPr/>
          <p:nvPr/>
        </p:nvSpPr>
        <p:spPr>
          <a:xfrm>
            <a:off x="4617720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del Tanque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29984" y="960120"/>
            <a:ext cx="1965960" cy="3200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8" name="Image 3" descr="/mnt/user-data/uploads/4_seleccion_especies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93992" y="1024128"/>
            <a:ext cx="1837944" cy="281635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729984" y="3840480"/>
            <a:ext cx="19659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4"/>
          <p:cNvSpPr/>
          <p:nvPr/>
        </p:nvSpPr>
        <p:spPr>
          <a:xfrm>
            <a:off x="6729984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 de Especies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Lo-Fi  —  Bocetos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y sustrato, plantas e iluminacion, resumen de configuracion y plantillas.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3192" y="960120"/>
            <a:ext cx="1965960" cy="3200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/mnt/user-data/uploads/5_filtro_y_sustrato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1837944" cy="2816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192" y="3840480"/>
            <a:ext cx="19659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393192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y Sustrato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05456" y="960120"/>
            <a:ext cx="1965960" cy="3200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0" name="Image 1" descr="/mnt/user-data/uploads/6_plantas_iluminacion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9464" y="1024128"/>
            <a:ext cx="1837944" cy="281635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5456" y="3840480"/>
            <a:ext cx="19659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2505456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e Iluminacion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17720" y="960120"/>
            <a:ext cx="1965960" cy="3200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/mnt/user-data/uploads/7_resumenConfiguracion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81728" y="1024128"/>
            <a:ext cx="1837944" cy="281635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17720" y="3840480"/>
            <a:ext cx="19659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1"/>
          <p:cNvSpPr/>
          <p:nvPr/>
        </p:nvSpPr>
        <p:spPr>
          <a:xfrm>
            <a:off x="4617720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Configuracion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729984" y="960120"/>
            <a:ext cx="1965960" cy="3200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8" name="Image 3" descr="/mnt/user-data/uploads/8_plantillas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93992" y="1024128"/>
            <a:ext cx="1837944" cy="281635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729984" y="3840480"/>
            <a:ext cx="196596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4"/>
          <p:cNvSpPr/>
          <p:nvPr/>
        </p:nvSpPr>
        <p:spPr>
          <a:xfrm>
            <a:off x="6729984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Hi-Fi  —  Diseno en Figma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del flujo principal: menu, volumen y seleccion de especies.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3192" y="987552"/>
            <a:ext cx="2743200" cy="3246120"/>
          </a:xfrm>
          <a:prstGeom prst="rect">
            <a:avLst/>
          </a:prstGeom>
          <a:solidFill>
            <a:srgbClr val="062840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/mnt/user-data/uploads/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2615184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192" y="388620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393192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 —  Menu Principal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28416" y="987552"/>
            <a:ext cx="2743200" cy="3246120"/>
          </a:xfrm>
          <a:prstGeom prst="rect">
            <a:avLst/>
          </a:prstGeom>
          <a:solidFill>
            <a:srgbClr val="062840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0" name="Image 1" descr="/mnt/user-data/uploads/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92424" y="1051560"/>
            <a:ext cx="2615184" cy="2834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28416" y="388620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3328416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 —  Volumen del Tanque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63640" y="987552"/>
            <a:ext cx="2743200" cy="3246120"/>
          </a:xfrm>
          <a:prstGeom prst="rect">
            <a:avLst/>
          </a:prstGeom>
          <a:solidFill>
            <a:srgbClr val="062840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/mnt/user-data/uploads/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27648" y="1051560"/>
            <a:ext cx="2615184" cy="28346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63640" y="388620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1"/>
          <p:cNvSpPr/>
          <p:nvPr/>
        </p:nvSpPr>
        <p:spPr>
          <a:xfrm>
            <a:off x="6263640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 —  Seleccion de Especies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93192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3"/>
          <p:cNvSpPr/>
          <p:nvPr/>
        </p:nvSpPr>
        <p:spPr>
          <a:xfrm>
            <a:off x="393192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Menu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112264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5"/>
          <p:cNvSpPr/>
          <p:nvPr/>
        </p:nvSpPr>
        <p:spPr>
          <a:xfrm>
            <a:off x="2112264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Volumen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831336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7"/>
          <p:cNvSpPr/>
          <p:nvPr/>
        </p:nvSpPr>
        <p:spPr>
          <a:xfrm>
            <a:off x="3831336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Especies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550408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41E2C"/>
          </a:solidFill>
          <a:ln w="6350">
            <a:solidFill>
              <a:srgbClr val="1A33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19"/>
          <p:cNvSpPr/>
          <p:nvPr/>
        </p:nvSpPr>
        <p:spPr>
          <a:xfrm>
            <a:off x="5550408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Componentes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269480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41E2C"/>
          </a:solidFill>
          <a:ln w="6350">
            <a:solidFill>
              <a:srgbClr val="1A33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7269480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Resumen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Hi-Fi  —  Diseno en Figma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plantas e iluminacion, y pantalla de resumen final.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3192" y="987552"/>
            <a:ext cx="2743200" cy="3246120"/>
          </a:xfrm>
          <a:prstGeom prst="rect">
            <a:avLst/>
          </a:prstGeom>
          <a:solidFill>
            <a:srgbClr val="062840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/mnt/user-data/uploads/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2615184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192" y="388620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393192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 —  Filtro y Sustrato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28416" y="987552"/>
            <a:ext cx="2743200" cy="3246120"/>
          </a:xfrm>
          <a:prstGeom prst="rect">
            <a:avLst/>
          </a:prstGeom>
          <a:solidFill>
            <a:srgbClr val="062840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0" name="Image 1" descr="/mnt/user-data/uploads/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92424" y="1051560"/>
            <a:ext cx="2615184" cy="2834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28416" y="388620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3328416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 —  Plantas e Iluminacion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63640" y="987552"/>
            <a:ext cx="2743200" cy="3246120"/>
          </a:xfrm>
          <a:prstGeom prst="rect">
            <a:avLst/>
          </a:prstGeom>
          <a:solidFill>
            <a:srgbClr val="062840"/>
          </a:solidFill>
          <a:ln w="1270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4" name="Image 2" descr="/mnt/user-data/uploads/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27648" y="1051560"/>
            <a:ext cx="2615184" cy="28346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63640" y="3886200"/>
            <a:ext cx="27432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1"/>
          <p:cNvSpPr/>
          <p:nvPr/>
        </p:nvSpPr>
        <p:spPr>
          <a:xfrm>
            <a:off x="6263640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 —  Resumen de Configuracion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93192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41E2C"/>
          </a:solidFill>
          <a:ln w="6350">
            <a:solidFill>
              <a:srgbClr val="1A33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3"/>
          <p:cNvSpPr/>
          <p:nvPr/>
        </p:nvSpPr>
        <p:spPr>
          <a:xfrm>
            <a:off x="393192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Menu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112264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41E2C"/>
          </a:solidFill>
          <a:ln w="6350">
            <a:solidFill>
              <a:srgbClr val="1A33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5"/>
          <p:cNvSpPr/>
          <p:nvPr/>
        </p:nvSpPr>
        <p:spPr>
          <a:xfrm>
            <a:off x="2112264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Volumen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831336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41E2C"/>
          </a:solidFill>
          <a:ln w="6350">
            <a:solidFill>
              <a:srgbClr val="1A334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7"/>
          <p:cNvSpPr/>
          <p:nvPr/>
        </p:nvSpPr>
        <p:spPr>
          <a:xfrm>
            <a:off x="3831336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Especies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550408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19"/>
          <p:cNvSpPr/>
          <p:nvPr/>
        </p:nvSpPr>
        <p:spPr>
          <a:xfrm>
            <a:off x="5550408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Componentes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269480" y="4462272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7269480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Resumen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Hi-Fi  —  Flujo de Seleccion de Especies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lateral muestra compatibilidad en tiempo real y bloquea el avance hasta cumplir criterios minimos.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93192" y="960120"/>
            <a:ext cx="2743200" cy="338328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6" name="Image 0" descr="/mnt/user-data/uploads/2_1_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24128"/>
            <a:ext cx="2615184" cy="2944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3192" y="3968496"/>
            <a:ext cx="2743200" cy="3749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393192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inicial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3192" y="4151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vacio – sin especies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154680" y="24688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</a:rPr>
              <a:t>&gt;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960120"/>
            <a:ext cx="2743200" cy="338328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2" name="Image 1" descr="/mnt/user-data/uploads/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01568" y="1024128"/>
            <a:ext cx="2615184" cy="29443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37560" y="3968496"/>
            <a:ext cx="2743200" cy="3749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333756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cardumen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337560" y="4151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Guppy solo genera estres cronico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099048" y="24688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</a:rPr>
              <a:t>&gt;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281928" y="960120"/>
            <a:ext cx="2743200" cy="3383280"/>
          </a:xfrm>
          <a:prstGeom prst="rect">
            <a:avLst/>
          </a:prstGeom>
          <a:solidFill>
            <a:srgbClr val="062840"/>
          </a:solidFill>
          <a:ln w="19050">
            <a:solidFill>
              <a:srgbClr val="02C39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18" name="Image 2" descr="/mnt/user-data/uploads/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45936" y="1024128"/>
            <a:ext cx="2615184" cy="29443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81928" y="3968496"/>
            <a:ext cx="2743200" cy="37490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5"/>
          <p:cNvSpPr/>
          <p:nvPr/>
        </p:nvSpPr>
        <p:spPr>
          <a:xfrm>
            <a:off x="6281928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valida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281928" y="4151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1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Guppy x5 + Corydora x6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3192" y="4526280"/>
            <a:ext cx="8357616" cy="411480"/>
          </a:xfrm>
          <a:prstGeom prst="rect">
            <a:avLst/>
          </a:prstGeom>
          <a:solidFill>
            <a:srgbClr val="041E2C"/>
          </a:solidFill>
          <a:ln w="889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18"/>
          <p:cNvSpPr/>
          <p:nvPr/>
        </p:nvSpPr>
        <p:spPr>
          <a:xfrm>
            <a:off x="393192" y="4526280"/>
            <a:ext cx="54864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19"/>
          <p:cNvSpPr/>
          <p:nvPr/>
        </p:nvSpPr>
        <p:spPr>
          <a:xfrm>
            <a:off x="54864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 </a:t>
            </a:r>
            <a:r>
              <a:rPr lang="en-US" sz="950" dirty="0" err="1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El panel de compatibilidad permanece visible en todo momento para retroalimentacion inmediata, eliminando la necesidad de una pantalla de validacion separada.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KLM  —  Keystroke-Level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tiempo de ejecucion de bajo nivel para tareas sin errores.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199339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84048" y="89611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130759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Preparacion Mental  1.2 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23744" y="896112"/>
            <a:ext cx="1993392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523744" y="89611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23744" y="130759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(Mouse)  1.1 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1993392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663440" y="89611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30759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1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o Tecla  0.2 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03136" y="896112"/>
            <a:ext cx="199339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803136" y="89611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30759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Sistema  0.5 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1783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2029968"/>
            <a:ext cx="8375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configura un nuevo acuario desde cero: calcula el volumen por dimensiones, agrega Guppys y Corydoras con ajuste de cantidades, selecciona sustrato Arena de silice, </a:t>
            </a:r>
            <a:r>
              <a:rPr lang="en-US" sz="1000" dirty="0" err="1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</a:t>
            </a: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Anubias y llega a la pantalla de resumen.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578608"/>
            <a:ext cx="347472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84048" y="25786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" y="2578608"/>
            <a:ext cx="45720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49808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 del usuario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40096" y="2578608"/>
            <a:ext cx="3456432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340096" y="257860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asignados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2871216"/>
            <a:ext cx="8375904" cy="149047"/>
          </a:xfrm>
          <a:prstGeom prst="rect">
            <a:avLst/>
          </a:prstGeom>
          <a:solidFill>
            <a:srgbClr val="062840"/>
          </a:solidFill>
          <a:ln w="12700">
            <a:solidFill>
              <a:srgbClr val="06284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6" name="Text 24"/>
          <p:cNvSpPr/>
          <p:nvPr/>
        </p:nvSpPr>
        <p:spPr>
          <a:xfrm>
            <a:off x="384048" y="2871216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9808" y="2871216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'Nuevo Acuario'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40096" y="2871216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3020263"/>
            <a:ext cx="8375904" cy="149047"/>
          </a:xfrm>
          <a:prstGeom prst="rect">
            <a:avLst/>
          </a:prstGeom>
          <a:solidFill>
            <a:srgbClr val="041E2C"/>
          </a:solidFill>
          <a:ln w="12700">
            <a:solidFill>
              <a:srgbClr val="041E2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384048" y="3020263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9808" y="3020263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'Calcularlo por dimensiones'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40096" y="3020263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4048" y="3169310"/>
            <a:ext cx="8375904" cy="149047"/>
          </a:xfrm>
          <a:prstGeom prst="rect">
            <a:avLst/>
          </a:prstGeom>
          <a:solidFill>
            <a:srgbClr val="062840"/>
          </a:solidFill>
          <a:ln w="12700">
            <a:solidFill>
              <a:srgbClr val="0628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384048" y="3169310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9808" y="3169310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 a Seleccion de Especies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40096" y="3169310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 + 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048" y="3318358"/>
            <a:ext cx="8375904" cy="149047"/>
          </a:xfrm>
          <a:prstGeom prst="rect">
            <a:avLst/>
          </a:prstGeom>
          <a:solidFill>
            <a:srgbClr val="041E2C"/>
          </a:solidFill>
          <a:ln w="12700">
            <a:solidFill>
              <a:srgbClr val="041E2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384048" y="3318358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9808" y="3318358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Guppy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40096" y="3318358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" y="3467405"/>
            <a:ext cx="8375904" cy="149047"/>
          </a:xfrm>
          <a:prstGeom prst="rect">
            <a:avLst/>
          </a:prstGeom>
          <a:solidFill>
            <a:srgbClr val="062840"/>
          </a:solidFill>
          <a:ln w="12700">
            <a:solidFill>
              <a:srgbClr val="0628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384048" y="3467405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9808" y="3467405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cantidad a 5  (x4 clics en '+')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40096" y="3467405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+ 4K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84048" y="3616452"/>
            <a:ext cx="8375904" cy="149047"/>
          </a:xfrm>
          <a:prstGeom prst="rect">
            <a:avLst/>
          </a:prstGeom>
          <a:solidFill>
            <a:srgbClr val="041E2C"/>
          </a:solidFill>
          <a:ln w="12700">
            <a:solidFill>
              <a:srgbClr val="041E2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384048" y="3616452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9808" y="3616452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Corydora Pimienta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40096" y="3616452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4048" y="3765499"/>
            <a:ext cx="8375904" cy="149047"/>
          </a:xfrm>
          <a:prstGeom prst="rect">
            <a:avLst/>
          </a:prstGeom>
          <a:solidFill>
            <a:srgbClr val="062840"/>
          </a:solidFill>
          <a:ln w="12700">
            <a:solidFill>
              <a:srgbClr val="0628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/>
          <p:nvPr/>
        </p:nvSpPr>
        <p:spPr>
          <a:xfrm>
            <a:off x="384048" y="3765499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9808" y="3765499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cantidad a 6  (x5 clics en '+')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340096" y="3765499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+ 5K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84048" y="3914546"/>
            <a:ext cx="8375904" cy="149047"/>
          </a:xfrm>
          <a:prstGeom prst="rect">
            <a:avLst/>
          </a:prstGeom>
          <a:solidFill>
            <a:srgbClr val="041E2C"/>
          </a:solidFill>
          <a:ln w="12700">
            <a:solidFill>
              <a:srgbClr val="041E2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2"/>
          <p:cNvSpPr/>
          <p:nvPr/>
        </p:nvSpPr>
        <p:spPr>
          <a:xfrm>
            <a:off x="384048" y="3914546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9808" y="3914546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 a Componentes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40096" y="3914546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 + 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4048" y="4063594"/>
            <a:ext cx="8375904" cy="149047"/>
          </a:xfrm>
          <a:prstGeom prst="rect">
            <a:avLst/>
          </a:prstGeom>
          <a:solidFill>
            <a:srgbClr val="062840"/>
          </a:solidFill>
          <a:ln w="12700">
            <a:solidFill>
              <a:srgbClr val="0628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6"/>
          <p:cNvSpPr/>
          <p:nvPr/>
        </p:nvSpPr>
        <p:spPr>
          <a:xfrm>
            <a:off x="384048" y="4063594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9808" y="4063594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Arena de silice (Sustrato)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40096" y="4063594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84048" y="4212641"/>
            <a:ext cx="8375904" cy="149047"/>
          </a:xfrm>
          <a:prstGeom prst="rect">
            <a:avLst/>
          </a:prstGeom>
          <a:solidFill>
            <a:srgbClr val="041E2C"/>
          </a:solidFill>
          <a:ln w="12700">
            <a:solidFill>
              <a:srgbClr val="041E2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60"/>
          <p:cNvSpPr/>
          <p:nvPr/>
        </p:nvSpPr>
        <p:spPr>
          <a:xfrm>
            <a:off x="384048" y="4212641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49808" y="4212641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 a Plantas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340096" y="4212641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 + R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84048" y="4361688"/>
            <a:ext cx="8375904" cy="149047"/>
          </a:xfrm>
          <a:prstGeom prst="rect">
            <a:avLst/>
          </a:prstGeom>
          <a:solidFill>
            <a:srgbClr val="062840"/>
          </a:solidFill>
          <a:ln w="12700">
            <a:solidFill>
              <a:srgbClr val="0628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64"/>
          <p:cNvSpPr/>
          <p:nvPr/>
        </p:nvSpPr>
        <p:spPr>
          <a:xfrm>
            <a:off x="384048" y="4361688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9808" y="4361688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'Si, quiero plantas'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340096" y="4361688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84048" y="4510735"/>
            <a:ext cx="8375904" cy="149047"/>
          </a:xfrm>
          <a:prstGeom prst="rect">
            <a:avLst/>
          </a:prstGeom>
          <a:solidFill>
            <a:srgbClr val="041E2C"/>
          </a:solidFill>
          <a:ln w="12700">
            <a:solidFill>
              <a:srgbClr val="041E2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Text 68"/>
          <p:cNvSpPr/>
          <p:nvPr/>
        </p:nvSpPr>
        <p:spPr>
          <a:xfrm>
            <a:off x="384048" y="4510735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49808" y="4510735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Anubias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340096" y="4510735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84048" y="4659782"/>
            <a:ext cx="8375904" cy="149047"/>
          </a:xfrm>
          <a:prstGeom prst="rect">
            <a:avLst/>
          </a:prstGeom>
          <a:solidFill>
            <a:srgbClr val="062840"/>
          </a:solidFill>
          <a:ln w="12700">
            <a:solidFill>
              <a:srgbClr val="06284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Text 72"/>
          <p:cNvSpPr/>
          <p:nvPr/>
        </p:nvSpPr>
        <p:spPr>
          <a:xfrm>
            <a:off x="384048" y="4659782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49808" y="4659782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configuracion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340096" y="4659782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 + 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84048" y="4808830"/>
            <a:ext cx="8375904" cy="149047"/>
          </a:xfrm>
          <a:prstGeom prst="rect">
            <a:avLst/>
          </a:prstGeom>
          <a:solidFill>
            <a:srgbClr val="041E2C"/>
          </a:solidFill>
          <a:ln w="12700">
            <a:solidFill>
              <a:srgbClr val="041E2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Text 76"/>
          <p:cNvSpPr/>
          <p:nvPr/>
        </p:nvSpPr>
        <p:spPr>
          <a:xfrm>
            <a:off x="384048" y="4808830"/>
            <a:ext cx="347472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49808" y="4808830"/>
            <a:ext cx="4572000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al Menu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340096" y="4808830"/>
            <a:ext cx="3456432" cy="149047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 P + 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KLM  — 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Resultados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623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 del tiempo de ejecucion estimado para el escenario seleccionado.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749808"/>
            <a:ext cx="8375904" cy="841248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66928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 KLM: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241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  +  14P  +  21K  +  4R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199339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84048" y="17556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213969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× 1.2 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3774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 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23744" y="1737360"/>
            <a:ext cx="199339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523744" y="17556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23744" y="213969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× 1.1 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23744" y="23774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1993392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663440" y="17556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213969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1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× 0.2 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3774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1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4.2 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737360"/>
            <a:ext cx="199339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803136" y="17556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03136" y="213969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× 0.5 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03136" y="2377440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2.0 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2788920"/>
            <a:ext cx="4069080" cy="1261872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4864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 manual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1363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 seg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48640" y="3721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 + 15.4 + 4.2 + 2.0 = 36.0 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90872" y="2788920"/>
            <a:ext cx="4069080" cy="1261872"/>
          </a:xfrm>
          <a:prstGeom prst="rect">
            <a:avLst/>
          </a:prstGeom>
          <a:solidFill>
            <a:srgbClr val="041E2C"/>
          </a:solidFill>
          <a:ln w="1524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84632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 CogTool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1363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 seg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846320" y="3721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~33%: CogTool omite M redundantes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0" y="3102864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84048" y="4187952"/>
            <a:ext cx="8375904" cy="685800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384048" y="4187952"/>
            <a:ext cx="54864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548640" y="4233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Interpretacion: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CogTool confirma un flujo sin cuellos de botella prolongados. Las barras de cognicion son constantes, indicando que </a:t>
            </a:r>
            <a:r>
              <a:rPr lang="en-US" sz="950" dirty="0" err="1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genera momentos de confusion o busqueda excesiva en la interfaz.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Pruebas de Usabilidad  —  Objetivo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eficiencia, eficacia y satisfaccion del flujo principal de Netza-Tank.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grado de usabilidad del flujo principal 'Configuracion manual de un Nuevo Acuario' en el prototipo de NETZA-TANK, validando si el sistema cumple con las siguientes metas cuantificables: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54480"/>
            <a:ext cx="8375904" cy="96012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84048" y="1554480"/>
            <a:ext cx="54864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84048" y="1554480"/>
            <a:ext cx="1444752" cy="960120"/>
          </a:xfrm>
          <a:prstGeom prst="rect">
            <a:avLst/>
          </a:prstGeom>
          <a:solidFill>
            <a:srgbClr val="001F18"/>
          </a:solidFill>
          <a:ln w="12700">
            <a:solidFill>
              <a:srgbClr val="001F1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84048" y="155448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938528" y="169164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participantes completaran el flujo completo en un maximo de 8 minutos.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38528" y="21305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manualmente por el moderador con cronometro.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651760"/>
            <a:ext cx="8375904" cy="96012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84048" y="2651760"/>
            <a:ext cx="54864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84048" y="2651760"/>
            <a:ext cx="1444752" cy="960120"/>
          </a:xfrm>
          <a:prstGeom prst="rect">
            <a:avLst/>
          </a:prstGeom>
          <a:solidFill>
            <a:srgbClr val="001F18"/>
          </a:solidFill>
          <a:ln w="12700">
            <a:solidFill>
              <a:srgbClr val="001F1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84048" y="265176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938528" y="278892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ajustaran la cantidad de fauna en el carrito sin solicitar ayuda, en maximo 2 intentos fallidos.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38528" y="322783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aprendizaje del control '+' del carrito lateral.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749040"/>
            <a:ext cx="8375904" cy="96012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384048" y="374904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84048" y="3749040"/>
            <a:ext cx="1444752" cy="960120"/>
          </a:xfrm>
          <a:prstGeom prst="rect">
            <a:avLst/>
          </a:prstGeom>
          <a:solidFill>
            <a:srgbClr val="1A2A00"/>
          </a:solidFill>
          <a:ln w="12700">
            <a:solidFill>
              <a:srgbClr val="1A2A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84048" y="374904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938528" y="3886200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navegacion por participante por tarea (clics incorrectos o retrocesos no planificados).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38528" y="43251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tasa de error aceptable para usabilidad.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846320"/>
            <a:ext cx="8375904" cy="182880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al participante:  "Acabas de comprar una pecera de 50x35x45 cm. Usa la aplicacion para armar tu acuario ideal..."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Participantes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participantes totales  –  4 por subgrupo  –  Experiencia basica en computadoras y moviles.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987552"/>
            <a:ext cx="4151376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84048" y="987552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 A  —  Principiante Entusiasta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18304" y="987552"/>
            <a:ext cx="4151376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718304" y="987552"/>
            <a:ext cx="4151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Subgrupo B  —  Acuarista Intermedio / Avanzado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389888"/>
            <a:ext cx="4151376" cy="502920"/>
          </a:xfrm>
          <a:prstGeom prst="rect">
            <a:avLst/>
          </a:prstGeom>
          <a:solidFill>
            <a:srgbClr val="062840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84048" y="1389888"/>
            <a:ext cx="5486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21208" y="13898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72768" y="13898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 45 </a:t>
            </a:r>
            <a:r>
              <a:rPr lang="en-US" sz="950" dirty="0" err="1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genero indistinto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1911096"/>
            <a:ext cx="4151376" cy="502920"/>
          </a:xfrm>
          <a:prstGeom prst="rect">
            <a:avLst/>
          </a:prstGeom>
          <a:solidFill>
            <a:srgbClr val="041E2C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84048" y="1911096"/>
            <a:ext cx="5486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21208" y="191109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72768" y="19110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en departamento o espacio limitado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432304"/>
            <a:ext cx="4151376" cy="502920"/>
          </a:xfrm>
          <a:prstGeom prst="rect">
            <a:avLst/>
          </a:prstGeom>
          <a:solidFill>
            <a:srgbClr val="062840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384048" y="2432304"/>
            <a:ext cx="5486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521208" y="243230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72768" y="243230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 o bajo del dominio acuatico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953512"/>
            <a:ext cx="4151376" cy="502920"/>
          </a:xfrm>
          <a:prstGeom prst="rect">
            <a:avLst/>
          </a:prstGeom>
          <a:solidFill>
            <a:srgbClr val="041E2C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384048" y="2953512"/>
            <a:ext cx="5486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21208" y="29535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72768" y="29535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y practico; requiere alertas graficas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474720"/>
            <a:ext cx="4151376" cy="502920"/>
          </a:xfrm>
          <a:prstGeom prst="rect">
            <a:avLst/>
          </a:prstGeom>
          <a:solidFill>
            <a:srgbClr val="062840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384048" y="3474720"/>
            <a:ext cx="5486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521208" y="3474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Criticidad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72768" y="34747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— error = perdida de organismos vivos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3995928"/>
            <a:ext cx="4151376" cy="502920"/>
          </a:xfrm>
          <a:prstGeom prst="rect">
            <a:avLst/>
          </a:prstGeom>
          <a:solidFill>
            <a:srgbClr val="041E2C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384048" y="3995928"/>
            <a:ext cx="5486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521208" y="39959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Reclutamiento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572768" y="39959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universitarias, sin exp. previa acuarismo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18304" y="1389888"/>
            <a:ext cx="4151376" cy="502920"/>
          </a:xfrm>
          <a:prstGeom prst="rect">
            <a:avLst/>
          </a:prstGeom>
          <a:solidFill>
            <a:srgbClr val="062840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4718304" y="1389888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4855464" y="13898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07024" y="13898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 45 </a:t>
            </a:r>
            <a:r>
              <a:rPr lang="en-US" sz="950" dirty="0" err="1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</a:t>
            </a: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genero indistinto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18304" y="1911096"/>
            <a:ext cx="4151376" cy="502920"/>
          </a:xfrm>
          <a:prstGeom prst="rect">
            <a:avLst/>
          </a:prstGeom>
          <a:solidFill>
            <a:srgbClr val="041E2C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4718304" y="1911096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4855464" y="191109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907024" y="19110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activo; busca herramientas digitales eficientes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18304" y="2432304"/>
            <a:ext cx="4151376" cy="502920"/>
          </a:xfrm>
          <a:prstGeom prst="rect">
            <a:avLst/>
          </a:prstGeom>
          <a:solidFill>
            <a:srgbClr val="062840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4718304" y="2432304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4855464" y="243230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907024" y="243230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Alto: quimica del agua, carga biologica, territorialidad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3512"/>
            <a:ext cx="4151376" cy="502920"/>
          </a:xfrm>
          <a:prstGeom prst="rect">
            <a:avLst/>
          </a:prstGeom>
          <a:solidFill>
            <a:srgbClr val="041E2C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4718304" y="2953512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4855464" y="29535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07024" y="29535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Analitico y basado en datos tecnicos (pH, caudal L/h)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18304" y="3474720"/>
            <a:ext cx="4151376" cy="502920"/>
          </a:xfrm>
          <a:prstGeom prst="rect">
            <a:avLst/>
          </a:prstGeom>
          <a:solidFill>
            <a:srgbClr val="062840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4718304" y="3474720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4855464" y="3474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Criticidad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907024" y="34747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Media-alta — desequilibrios arruinan meses de trabajo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18304" y="3995928"/>
            <a:ext cx="4151376" cy="502920"/>
          </a:xfrm>
          <a:prstGeom prst="rect">
            <a:avLst/>
          </a:prstGeom>
          <a:solidFill>
            <a:srgbClr val="041E2C"/>
          </a:solidFill>
          <a:ln w="5080">
            <a:solidFill>
              <a:srgbClr val="0A3B5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4718304" y="3995928"/>
            <a:ext cx="54864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/>
          <p:nvPr/>
        </p:nvSpPr>
        <p:spPr>
          <a:xfrm>
            <a:off x="4855464" y="39959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Reclutamiento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907024" y="39959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Facebook/WhatsApp de acuarismo local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Usabilidad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tareas con criterios cuantitativos de exito y puntos de observacion definidos.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8375904" cy="914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84048" y="896112"/>
            <a:ext cx="54864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530352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84048" y="896112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9509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configuracion y metodo de calculo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12252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nuevo acuario y seleccionar el calculo de volumen por dimensiones.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el participante llega a la pantalla de Seleccionar Especies.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1938528"/>
            <a:ext cx="8375904" cy="914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84048" y="1938528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84048" y="1938528"/>
            <a:ext cx="530352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384048" y="1938528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19933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 y ajuste de fauna  [Prueba de friccion]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05840" y="2267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Guppy al carrito y ajustar a 5 unidades. Repetir con Corydora Pimienta hasta 6.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2551176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avanza con exactamente 5 Guppys y 6 Corydoras. Solicitar ayuda = fallo registrado.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2980944"/>
            <a:ext cx="8375904" cy="914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84048" y="2980944"/>
            <a:ext cx="54864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84048" y="2980944"/>
            <a:ext cx="530352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84048" y="2980944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30358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 de componentes – Sustrato y Flora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33101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Arena de silice como sustrato, aceptar plantas vivas y seleccionar Anubias.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359359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completa la seccion con plantas y presiona Finalizar configuracion.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4023360"/>
            <a:ext cx="8375904" cy="914400"/>
          </a:xfrm>
          <a:prstGeom prst="rect">
            <a:avLst/>
          </a:prstGeom>
          <a:solidFill>
            <a:srgbClr val="062840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84048" y="4023360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384048" y="4023360"/>
            <a:ext cx="530352" cy="914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384048" y="4023360"/>
            <a:ext cx="530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5840" y="40782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de resumen y cierre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5840" y="43525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pantalla de resumen generada por el sistema y regresar al menu principal.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05840" y="4636008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clic en Volver al Menu. Se registra si leyo el resumen antes de salir (dato cualitativo).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6400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Sesion  —  20 minutos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sesion individual con moderador y dos recolectores de datos.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3657600"/>
            <a:ext cx="1256386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84048" y="3657600"/>
            <a:ext cx="12563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0434" y="3657600"/>
            <a:ext cx="83759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640434" y="3657600"/>
            <a:ext cx="837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78024" y="3657600"/>
            <a:ext cx="4187952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478024" y="3657600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1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65976" y="3657600"/>
            <a:ext cx="125638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665976" y="3657600"/>
            <a:ext cx="12563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22362" y="3657600"/>
            <a:ext cx="83759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922362" y="3657600"/>
            <a:ext cx="837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987552"/>
            <a:ext cx="1256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firma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40434" y="987552"/>
            <a:ext cx="837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78024" y="987552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tareas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65976" y="987552"/>
            <a:ext cx="1256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22362" y="987552"/>
            <a:ext cx="837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9768" y="4251960"/>
            <a:ext cx="11649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Introduccion, objetivos y consentimiento informado del participante.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86154" y="4251960"/>
            <a:ext cx="746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 del perfil y antecedentes acuaristicos.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23744" y="4251960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tareas con observacion directa y grabacion de pantalla/audio.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11696" y="4251960"/>
            <a:ext cx="11649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Percepcion subjetiva de usabilidad y satisfaccion del usuario.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68082" y="4251960"/>
            <a:ext cx="7461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incentivo (refrigerio) y agradecimiento.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40434" y="868680"/>
            <a:ext cx="0" cy="3383280"/>
          </a:xfrm>
          <a:prstGeom prst="line">
            <a:avLst/>
          </a:prstGeom>
          <a:noFill/>
          <a:ln w="6350">
            <a:solidFill>
              <a:srgbClr val="0A25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2478024" y="868680"/>
            <a:ext cx="0" cy="3383280"/>
          </a:xfrm>
          <a:prstGeom prst="line">
            <a:avLst/>
          </a:prstGeom>
          <a:noFill/>
          <a:ln w="6350">
            <a:solidFill>
              <a:srgbClr val="0A25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6665976" y="868680"/>
            <a:ext cx="0" cy="3383280"/>
          </a:xfrm>
          <a:prstGeom prst="line">
            <a:avLst/>
          </a:prstGeom>
          <a:noFill/>
          <a:ln w="6350">
            <a:solidFill>
              <a:srgbClr val="0A25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922362" y="868680"/>
            <a:ext cx="0" cy="3383280"/>
          </a:xfrm>
          <a:prstGeom prst="line">
            <a:avLst/>
          </a:prstGeom>
          <a:noFill/>
          <a:ln w="6350">
            <a:solidFill>
              <a:srgbClr val="0A25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384048" y="1508760"/>
            <a:ext cx="8375904" cy="1993392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548640" y="1572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equipo durante la sesion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1920240"/>
            <a:ext cx="54864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94944" y="19202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23160" y="192024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la sesion, presenta las tareas y cronometra el tiempo de cada tarea.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2441448"/>
            <a:ext cx="54864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94944" y="24414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  #1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23160" y="244144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errores de navegacion, clics incorrectos y solicitudes de ayuda.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2962656"/>
            <a:ext cx="54864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94944" y="29626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  #2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23160" y="2962656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datos cualitativos: expresiones, pausas y comentarios espontaneos.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/mnt/user-data/uploads/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11824">
              <a:alpha val="70000"/>
            </a:srgbClr>
          </a:solidFill>
          <a:ln w="12700">
            <a:solidFill>
              <a:srgbClr val="0118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2"/>
          <p:cNvSpPr/>
          <p:nvPr/>
        </p:nvSpPr>
        <p:spPr>
          <a:xfrm>
            <a:off x="5029200" y="0"/>
            <a:ext cx="731520" cy="5143500"/>
          </a:xfrm>
          <a:prstGeom prst="rect">
            <a:avLst/>
          </a:prstGeom>
          <a:solidFill>
            <a:srgbClr val="011824">
              <a:alpha val="95000"/>
            </a:srgbClr>
          </a:solidFill>
          <a:ln w="12700">
            <a:solidFill>
              <a:srgbClr val="0118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320040" y="457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768096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Entrega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Netza-Tank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320040" y="1874520"/>
            <a:ext cx="420624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6"/>
          <p:cNvSpPr/>
          <p:nvPr/>
        </p:nvSpPr>
        <p:spPr>
          <a:xfrm>
            <a:off x="320040" y="2011680"/>
            <a:ext cx="4389120" cy="420624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2011680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475488" y="201168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bocetos lo-fi + 10 pantallas hi-fi en Figma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487168"/>
            <a:ext cx="4389120" cy="420624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320040" y="2487168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475488" y="24871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4 pasos con validacion de compatibilidad live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962656"/>
            <a:ext cx="4389120" cy="420624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320040" y="2962656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475488" y="296265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KLM:  36.0 s manual  /  24.1 s CogTool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3438144"/>
            <a:ext cx="4389120" cy="420624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320040" y="3438144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475488" y="343814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participantes en 2 subgrupos con perfiles distintos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3913632"/>
            <a:ext cx="4389120" cy="420624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9"/>
          <p:cNvSpPr/>
          <p:nvPr/>
        </p:nvSpPr>
        <p:spPr>
          <a:xfrm>
            <a:off x="320040" y="3913632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475488" y="39136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tareas con criterios cuantitativos de exito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4389120"/>
            <a:ext cx="4389120" cy="420624"/>
          </a:xfrm>
          <a:prstGeom prst="rect">
            <a:avLst/>
          </a:prstGeom>
          <a:solidFill>
            <a:srgbClr val="041E2C"/>
          </a:solidFill>
          <a:ln w="1016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2"/>
          <p:cNvSpPr/>
          <p:nvPr/>
        </p:nvSpPr>
        <p:spPr>
          <a:xfrm>
            <a:off x="320040" y="4389120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475488" y="438912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de 20 min con moderador y 2 recolectores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1442</Words>
  <Application>Microsoft Office PowerPoint</Application>
  <PresentationFormat>Presentación en pantalla (16:9)</PresentationFormat>
  <Paragraphs>259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Netza-Tank – Segunda Entrega IHC</dc:title>
  <dc:subject>PptxGenJS Presentation</dc:subject>
  <dc:creator>PptxGenJS</dc:creator>
  <cp:lastModifiedBy>Aldrin Novelo</cp:lastModifiedBy>
  <cp:revision>2</cp:revision>
  <dcterms:created xsi:type="dcterms:W3CDTF">2026-05-07T21:46:08Z</dcterms:created>
  <dcterms:modified xsi:type="dcterms:W3CDTF">2026-05-08T02:39:59Z</dcterms:modified>
</cp:coreProperties>
</file>